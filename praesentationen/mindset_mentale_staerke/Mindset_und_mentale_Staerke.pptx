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Kurz vorstellen. Technik-Check: Alle hören und sehen gut? Chat-Funktion erklären – wir nutzen ihn heute oft.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Einige Zahlen vorlesen, wertschätzend kommentieren. Hinweis: Die Selbstwahrnehmung ist bereits der erste Schritt mentaler Stärke.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Minuten Stillarbeit, Timer einblenden. Danach 2-3 Freiwillige bitten, ihr D zu 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Gemeinsam 4 Runden durchführen. Referent zählt laut mit. Einsatz im Alltag: vor Meetings, Gesprächen, Präsentationen.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Trainiert die Aufmerksamkeit für Positives und wirkt dem negativen Wahrnehmungsfilter (Negativity Bias) entgegen.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anleiten: Alle schauen sich im eigenen Raum um. Einige Beobachtungen im Chat sammeln.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Blitzlicht: Ein Wort in den Chat. Offene Fragen beantworten. Hinweis auf Folgeangebote der Visual Academy.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A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BVKT/1e5a152e-5525-5b3e-a49f-ce1ddb0cad42/scratchpad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201168"/>
            <a:ext cx="1143000" cy="49926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ONLINE-IMPULSVORTRAG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0020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 und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mentale Stärke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46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unser Denken trainieren – mit Übungen und Tipps für den Alltag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949440" y="2377440"/>
            <a:ext cx="1371600" cy="13716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2340" y="2720340"/>
            <a:ext cx="685800" cy="685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Willkommen! So arbeiten wir heute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4592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62763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nutzen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975104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Gedanken, Fragen und Antworten jederzeit in den Chat schreiben.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17720" y="13716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164592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78308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7840" y="162763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Stift &amp; Papier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577840" y="1975104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die Übungen brauchst du nur einen Zettel und einen Stift.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85800" y="333756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747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331927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 – wenn möglich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3666744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 üben wirkt stärker. Kein Muss, aber eine Einladung.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1772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46320" y="333756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47472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77840" y="331927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Freiwilligkeit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5577840" y="3666744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ist ein Angebot. Du entscheidest, was du teilst.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Fahrplan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16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 kompakt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Mindset und mentale Stärke wirklich bedeuten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46304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88920" y="169164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8892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160" dirty="0"/>
          </a:p>
        </p:txBody>
      </p:sp>
      <p:sp>
        <p:nvSpPr>
          <p:cNvPr id="11" name="Text 9"/>
          <p:cNvSpPr txBox="1"/>
          <p:nvPr/>
        </p:nvSpPr>
        <p:spPr>
          <a:xfrm>
            <a:off x="2788920" y="24688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Denken verstehen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315468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Gedanken Gefühle und Handeln steuern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46304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2040" y="169164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16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4688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15468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Übungen für Kopf, Körper und Gefühle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46304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95160" y="169164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951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16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24688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Alltagstransfer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95160" y="315468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Rituale, Gewohnheiten und dein persönlicher Plan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Check-in: Wie geht es dir?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2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 eine Zahl von 1 bis 10 in den Chat: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280160" y="2148840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103120" y="2148840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926080" y="2148840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260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749040" y="2148840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490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572000" y="2148840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394960" y="2148840"/>
            <a:ext cx="640080" cy="64008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9496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217920" y="2148840"/>
            <a:ext cx="640080" cy="6400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040880" y="2148840"/>
            <a:ext cx="640080" cy="6400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408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863840" y="2148840"/>
            <a:ext cx="640080" cy="64008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= völlig erschöpft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85216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= voller Energie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4747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34747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Zusatzfrage: Was hat heute schon zu deiner Zahl beigetragen – im Guten wie im Schlechten?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Theorie kompakt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steckt hinter Mindset und mentaler Stärke?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66560" y="201168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37744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ein Mindset?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Mindset ist die Grundüberzeugung darüber, ob unsere Fähigkeiten feststehen oder sich entwickeln lassen.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423160"/>
            <a:ext cx="4754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Geprägt von der Psychologin Carol Dweck (Stanford)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Beeinflusst, wie wir mit Herausforderungen, Kritik und Fehlern umgehen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kein fester Charakterzug – es ist lern- und trainierbar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alle tragen beide Anteile in uns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577840" y="1371600"/>
            <a:ext cx="3108960" cy="3017520"/>
          </a:xfrm>
          <a:prstGeom prst="roundRect">
            <a:avLst>
              <a:gd name="adj" fmla="val 2424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806440" y="16459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„Wird mir das gelingen?“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80644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806440" y="27432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kann ich dabei lernen?“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35661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Frage, die wir uns stellen, prägt das Ergebnis.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Statisches vs. dynamisches Selbstbild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377440" y="1188720"/>
            <a:ext cx="3017520" cy="3520440"/>
          </a:xfrm>
          <a:prstGeom prst="roundRect">
            <a:avLst>
              <a:gd name="adj" fmla="val 2424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77840" y="1188720"/>
            <a:ext cx="3108960" cy="3520440"/>
          </a:xfrm>
          <a:prstGeom prst="roundRect">
            <a:avLst>
              <a:gd name="adj" fmla="val 2353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56032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Mindset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Mindset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783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Herausforderungen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560320" y="1783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werden vermieden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760720" y="17830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werden gesucht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3500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Hindernisse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3500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zum Aufgeben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35000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fördern Ausdauer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169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Anstrengung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29169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gilt als sinnlos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760720" y="2916936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der Weg zum Können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83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34838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wird ignoriert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34838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wird als Lernchance genutzt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050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Erfolg anderer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40507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wirkt bedrohlich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760720" y="405079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inspiriert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Neuroplastizität: Das Gehirn lernt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wir wiederholt denken und tun, wird zur Gewohnheit – neuronal verankert.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920240"/>
            <a:ext cx="2606040" cy="2560320"/>
          </a:xfrm>
          <a:prstGeom prst="roundRect">
            <a:avLst>
              <a:gd name="adj" fmla="val 285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148840"/>
            <a:ext cx="594360" cy="59436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229743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Trampelpfad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291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Denkweisen fühlen sich anfangs mühsam an – wie ein Weg durchs hohe Gras.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64408" y="1920240"/>
            <a:ext cx="2606040" cy="2560320"/>
          </a:xfrm>
          <a:prstGeom prst="roundRect">
            <a:avLst>
              <a:gd name="adj" fmla="val 285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93008" y="2148840"/>
            <a:ext cx="594360" cy="59436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598" y="229743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93008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493008" y="3291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Wiederholung stärkt die Verbindung. Aus dem Pfad wird ein Weg.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71616" y="1920240"/>
            <a:ext cx="2606040" cy="2560320"/>
          </a:xfrm>
          <a:prstGeom prst="roundRect">
            <a:avLst>
              <a:gd name="adj" fmla="val 285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300216" y="2148840"/>
            <a:ext cx="594360" cy="59436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806" y="229743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300216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Autobahn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6300216" y="32918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Gut trainierte Muster laufen automatisch ab – die gute Nachricht: auch neue.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mentale Stärke?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4C-Modell nach Peter Clough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645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Kontrolle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203911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habe Einfluss auf mein Leben und meine Emotionen.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17720" y="141732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169164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8288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0" y="16459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Commitment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Engagement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577840" y="203911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bleibe dran und halte meine Zusagen – auch an mich selbst.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5720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85800" y="333756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47472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1732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Herausforderung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417320" y="368503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Veränderung und Probleme als Chance zum Wachsen.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7720" y="306324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846320" y="333756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347472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77840" y="3291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Zuversicht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77840" y="3685032"/>
            <a:ext cx="2788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vertraue meinen Fähigkeiten und stehe zu mir.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1097280" y="155448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Mentale Stärke heißt nicht, keine Angst oder Zweifel zu haben – sondern trotzdem handlungsfähig zu bleiben.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566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Resilienz = sich von Krisen erholen   ·   Mentale Stärke = unter Druck klar bleiben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Denken verstehen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die Dinge beunruhigen uns, sondern unsere Sicht auf sie.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66560" y="201168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37744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ABC-Modell nach Albert Ellis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173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Auslöser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Chefin antwortet nicht auf meine Mail.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64408" y="13258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93008" y="14173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493008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93008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„Sie ist bestimmt unzufrieden mit mir.“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71616" y="132588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14173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300216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Konsequenz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300216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Unruhe, Grübeln, schlechter Schlaf.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Hebel liegt bei B: Wir können den Auslöser oft nicht ändern – unsere Bewertung schon.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Deine persönliche ABC-Analyse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5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84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5361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– Situation notieren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922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 an eine Situation der letzten Woche, die dich geärgert oder gestresst hat.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0428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84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860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– Gedanken aufschreiben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5420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genau hast du in dem Moment gedacht? Möglichst wörtlich.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54096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84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358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– Folgen benennen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Gefühle, Körperreaktionen und Handlungen folgten?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0390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84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856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– Hinterfragen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41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 der Gedanke wahr? Hilfreich? Was wäre eine andere Sichtweise?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5544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83080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908810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Chat teilen: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88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neue Sichtweise hast du für B gefunden?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Selbstwirksamkeit (Bandura)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Glaube: „Ich kann das schaffen.“ – vier Quellen stärken ihn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481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 Erfolge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stärkste Quelle: selbst etwas gemeistert haben.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57200" y="224028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3774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188720" y="2258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Vorbilder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53288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Sehen, wie Menschen wie ich es schaffen.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457200" y="301752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15468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88720" y="30358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Ermutigung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88720" y="331012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Zuspruch von anderen – und von mir selbst.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457200" y="379476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" y="39319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88720" y="3813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Körpergefühl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188720" y="408736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Anspannung als Energie deuten statt als Gefahr.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577840" y="1463040"/>
            <a:ext cx="3108960" cy="2926080"/>
          </a:xfrm>
          <a:prstGeom prst="roundRect">
            <a:avLst>
              <a:gd name="adj" fmla="val 250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5806440" y="1645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Alltags-Tipp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806440" y="2057400"/>
            <a:ext cx="2651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Große Ziele in kleine Schritte zerlegen. Jeder erreichte Schritt ist ein Mini-Erfolg – und trainiert das Gefühl: Ich bewirke etwas.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Erfolgsinventur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4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Notiere zu jedem Bereich einen Moment, in dem du etwas Schwieriges gemeistert hast: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Beruf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6517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habe ich geschafft?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Stärke half mir?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560320" y="20574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4320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Privatleben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26517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habe ich geschafft?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Stärke half mir?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63440" y="20574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Gesundheit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6517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habe ich geschafft?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Stärke half mir?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766560" y="2057400"/>
            <a:ext cx="1920240" cy="1463040"/>
          </a:xfrm>
          <a:prstGeom prst="roundRect">
            <a:avLst>
              <a:gd name="adj" fmla="val 5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4944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Krisen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49440" y="26517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habe ich geschafft?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Stärke half mir?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Leitfrage: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meiner Stärken kann ich auf eine aktuelle Herausforderung übertragen?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Werkzeugkasten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Übungen für Kopf, Körper und Gefühle – sofort anwendbar.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66560" y="201168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37744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Breathing: In 1 Minute zur Ruhe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2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394960" y="1371600"/>
            <a:ext cx="2743200" cy="2743200"/>
          </a:xfrm>
          <a:prstGeom prst="rect">
            <a:avLst/>
          </a:prstGeom>
          <a:solidFill>
            <a:srgbClr val="000000"/>
          </a:solidFill>
          <a:ln w="381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94960" y="13533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24688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Sek.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halten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35478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24688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Sek.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halten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377440"/>
            <a:ext cx="731520" cy="7315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560320"/>
            <a:ext cx="365760" cy="3657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57200" y="160020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" y="1600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84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1581912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Einatmen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18379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Sekunden ruhig durch die Nase.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2313432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" y="2313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84" dirty="0"/>
          </a:p>
        </p:txBody>
      </p:sp>
      <p:sp>
        <p:nvSpPr>
          <p:cNvPr id="18" name="Text 15"/>
          <p:cNvSpPr txBox="1"/>
          <p:nvPr/>
        </p:nvSpPr>
        <p:spPr>
          <a:xfrm>
            <a:off x="1005840" y="229514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Halten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005840" y="255117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Sekunden die Luft anhalten.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" y="302666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7200" y="3026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84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300837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Ausatmen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005840" y="32644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Sekunden langsam durch den Mund.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57200" y="3739896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7200" y="3739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84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372160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Halten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3977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Sekunden Pause – dann von vorn.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Die Kraft des Wortes „noch“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71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kann das nicht.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13716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846320" y="1371600"/>
            <a:ext cx="3840480" cy="731520"/>
          </a:xfrm>
          <a:prstGeom prst="roundRect">
            <a:avLst>
              <a:gd name="adj" fmla="val 1000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74920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kann das noch nicht.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3317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bin schlecht in Mathe.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23317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846320" y="2331720"/>
            <a:ext cx="3840480" cy="731520"/>
          </a:xfrm>
          <a:prstGeom prst="roundRect">
            <a:avLst>
              <a:gd name="adj" fmla="val 1000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74920" y="23317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lerne das gerade noch.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2918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klappt bei mir nie.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2918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846320" y="3291840"/>
            <a:ext cx="3840480" cy="731520"/>
          </a:xfrm>
          <a:prstGeom prst="roundRect">
            <a:avLst>
              <a:gd name="adj" fmla="val 1000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32918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hat bisher noch nicht geklappt.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Wort verwandelt ein Urteil in einen Prozess.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Gedanken umdeuten: Reframing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4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Wähle einen belastenden Gedanken und stelle dir diese drei Fragen: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24028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7744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2926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Stimmt das wirklich?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Fakten sprechen dafür – welche dagegen?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264408" y="205740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493008" y="224028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68" y="237744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493008" y="2926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würde ich einer Freundin sagen?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493008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sind zu anderen oft viel freundlicher als zu uns selbst.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071616" y="205740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300216" y="2240280"/>
            <a:ext cx="548640" cy="5486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237744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00216" y="2926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wichtig ist das in einem Jahr?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00216" y="35661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Abstand relativiert – und schafft Handlungsspielraum.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Innerer Kritiker vs. innerer Coach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3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Innerer Kritiker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4884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„Du Versager, das hättest du wissen müssen.“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„Andere schaffen das mit links.“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55448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6916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Innerer Coach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983480" y="214884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„Anna, das war schwierig. Was nimmst du daraus mit?“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„Du hast schon Schwereres geschafft.“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40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geht’s: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Sprich in schwierigen Momenten mit dir in der 2. oder 3. Person, mit deinem Vornamen. Studien (u. a. Ethan Kross) zeigen: Diese Distanz senkt Stress und macht klüger im Denken.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Dein Einflussbereich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566160" cy="3566160"/>
          </a:xfrm>
          <a:prstGeom prst="ellipse">
            <a:avLst/>
          </a:prstGeom>
          <a:solidFill>
            <a:srgbClr val="1616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0160" y="1920240"/>
            <a:ext cx="2103120" cy="21031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92024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 ich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beeinflussen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nicht in meiner Hand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7160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meiner Hand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73736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Vorbereitung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Reaktion und Haltung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 ich um Hilfe bitte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26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in meiner Hand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9184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Wetter, Wirtschaftslage, Bahn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Meinung anderer über mich</a:t>
            </a:r>
            <a:endParaRPr lang="en-US" sz="1400" dirty="0"/>
          </a:p>
          <a:p>
            <a:pPr marL="203200" indent="-2032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Vergangenheit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Sortiere deine Sorgen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4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554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84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5361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Kreise zeichnen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17922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Einen großen Kreis auf dein Blatt, darin einen kleinen.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04288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042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84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2860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Sorgen sammeln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54203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Schreibe alles, was dich gerade beschäftigt, auf das Blatt.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054096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84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0358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Einsortieren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kannst du beeinflussen? Innen. Alles andere: außen.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03904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039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84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7856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Einen Schritt wählen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0416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Nimm dir für den inneren Kreis eine konkrete Handlung für morgen vor.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035040" y="1554480"/>
            <a:ext cx="2651760" cy="2834640"/>
          </a:xfrm>
          <a:prstGeom prst="roundRect">
            <a:avLst>
              <a:gd name="adj" fmla="val 2759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63640" y="1783080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89370" y="1908810"/>
            <a:ext cx="251460" cy="25146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2636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263640" y="278892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 folgt der Aufmerksamkeit. Investiere sie dort, wo sie etwas bewirkt.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Ziele erreichen mit WOOP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Methode nach Gabriele Oettingen – positive Gedanken plus Realitätscheck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949440" y="14173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49440" y="14173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1920240" cy="2560320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011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43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Wish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1089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wünsche ich mir? Konkret und in den nächsten 4 Wochen erreichbar.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60320" y="1920240"/>
            <a:ext cx="1920240" cy="2560320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3200" y="2011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743200" y="2743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1089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wäre das beste Ergebnis? Wie fühlt es sich an?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920240"/>
            <a:ext cx="1920240" cy="2560320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011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743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Obstacle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1089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Welches innere Hindernis könnte mich stoppen?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920240"/>
            <a:ext cx="1920240" cy="2560320"/>
          </a:xfrm>
          <a:prstGeom prst="roundRect">
            <a:avLst>
              <a:gd name="adj" fmla="val 3810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20116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27432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3108960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[Hindernis] auftritt, dann werde ich [Handlung].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Drei gute Dinge am Abend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00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Dinge, jeden Abend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017520" y="1325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aus der Positiven Psychologie (Martin Seligman)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17520" y="187452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17520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84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8562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Aufschreiben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11226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Dinge, die heute gut waren – auch kleine.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265176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0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84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63347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Warum?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8895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Notiere, warum sie passiert sind und was dein Anteil war.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17520" y="3429000"/>
            <a:ext cx="402336" cy="402336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1752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84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4107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Dranbleiben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36667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Woche lang täglich – dann Wirkung beobachten.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Rückschläge meistern: Die 3 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Misserfolge erklären, entscheidet über unsere Zuversicht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Persönlich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„Es liegt nur an mir.“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108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Gegenfrage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832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Umstände haben auch mitgespielt?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64408" y="150876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93008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93008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„Das wird immer so sein.“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93008" y="3108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Gegenfrage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93008" y="33832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diesmal anders als beim nächsten Mal?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71616" y="1508760"/>
            <a:ext cx="2606040" cy="2926080"/>
          </a:xfrm>
          <a:prstGeom prst="roundRect">
            <a:avLst>
              <a:gd name="adj" fmla="val 2807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Pervasiv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300216" y="2194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00216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„Alles geht schief.“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300216" y="3108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Gegenfrage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300216" y="33832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Welche Lebensbereiche laufen gerade gut?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Notfall-Übung: 5-4-3-2-1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2 MIN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Holt dich bei Stress und Gedankenkarussell zurück ins Hier und Jetzt.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338328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Dinge, die du siehst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39696" y="20574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39696" y="21945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2276856" y="338328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Dinge, die du fühlst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22192" y="20574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22192" y="21945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3959352" y="338328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Dinge, die du hörst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504688" y="20574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504688" y="21945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0" dirty="0"/>
          </a:p>
        </p:txBody>
      </p:sp>
      <p:sp>
        <p:nvSpPr>
          <p:cNvPr id="17" name="Text 15"/>
          <p:cNvSpPr txBox="1"/>
          <p:nvPr/>
        </p:nvSpPr>
        <p:spPr>
          <a:xfrm>
            <a:off x="5641848" y="338328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Dinge, die du riechst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87184" y="2057400"/>
            <a:ext cx="1517904" cy="2331720"/>
          </a:xfrm>
          <a:prstGeom prst="roundRect">
            <a:avLst>
              <a:gd name="adj" fmla="val 4819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87184" y="21945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0" dirty="0"/>
          </a:p>
        </p:txBody>
      </p:sp>
      <p:sp>
        <p:nvSpPr>
          <p:cNvPr id="20" name="Text 18"/>
          <p:cNvSpPr txBox="1"/>
          <p:nvPr/>
        </p:nvSpPr>
        <p:spPr>
          <a:xfrm>
            <a:off x="7324344" y="3383280"/>
            <a:ext cx="1243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Ding, das du schmeckst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23317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Alltagstransfer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632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Mentale Stärke entsteht durch kleine, tägliche Wiederholungen.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66560" y="2011680"/>
            <a:ext cx="1463040" cy="146304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377440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Basis: Körper und Gewohnheiten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623060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Schlaf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756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7–9 Stunden für Erwachsene: die Grundlage für Konzentration und Gelassenheit.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264408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47288" y="15087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588" y="162306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41648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Bewegung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47288" y="20756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ein 10-minütiger Spaziergang hebt die Stimmung spürbar.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071616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54496" y="150876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1623060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48856" y="15544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54496" y="207568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60–90 Minuten kurz aufstehen, atmen, Blick in die Ferne.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57200" y="30175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" y="320040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314700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3246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Digitale Grenzen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7673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Handyfreie erste und letzte halbe Stunde des Tages.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3264408" y="30175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3447288" y="320040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1588" y="3314700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41648" y="3246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Beziehungen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47288" y="37673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Soziale Unterstützung ist einer der stärksten Resilienzfaktoren.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6071616" y="301752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254496" y="3200400"/>
            <a:ext cx="457200" cy="45720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314700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48856" y="32461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Habit Stacking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54496" y="37673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Gewohnheit an eine alte koppeln: „Nach dem Kaffee …“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7-Tage-Plan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9601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 · 3 MIN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078992" cy="1463040"/>
          </a:xfrm>
          <a:prstGeom prst="roundRect">
            <a:avLst>
              <a:gd name="adj" fmla="val 678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1945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ABC-Analyse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645920" y="1554480"/>
            <a:ext cx="1078992" cy="1463040"/>
          </a:xfrm>
          <a:prstGeom prst="roundRect">
            <a:avLst>
              <a:gd name="adj" fmla="val 678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645920" y="16459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719072" y="21945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Breathing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34640" y="1554480"/>
            <a:ext cx="1078992" cy="1463040"/>
          </a:xfrm>
          <a:prstGeom prst="roundRect">
            <a:avLst>
              <a:gd name="adj" fmla="val 678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16459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907792" y="21945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„noch“ nutzen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23360" y="1554480"/>
            <a:ext cx="1078992" cy="1463040"/>
          </a:xfrm>
          <a:prstGeom prst="roundRect">
            <a:avLst>
              <a:gd name="adj" fmla="val 678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16459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4096512" y="21945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Kontrollkreis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12080" y="1554480"/>
            <a:ext cx="1078992" cy="1463040"/>
          </a:xfrm>
          <a:prstGeom prst="roundRect">
            <a:avLst>
              <a:gd name="adj" fmla="val 678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2080" y="16459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285232" y="21945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WOOP-Ziel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554480"/>
            <a:ext cx="1078992" cy="1463040"/>
          </a:xfrm>
          <a:prstGeom prst="roundRect">
            <a:avLst>
              <a:gd name="adj" fmla="val 678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16459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73952" y="21945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Innerer Coach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589520" y="1554480"/>
            <a:ext cx="1078992" cy="1463040"/>
          </a:xfrm>
          <a:prstGeom prst="roundRect">
            <a:avLst>
              <a:gd name="adj" fmla="val 6780"/>
            </a:avLst>
          </a:prstGeom>
          <a:solidFill>
            <a:srgbClr val="161616"/>
          </a:solidFill>
          <a:ln w="12700">
            <a:solidFill>
              <a:srgbClr val="16161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589520" y="1645920"/>
            <a:ext cx="1078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662672" y="2194560"/>
            <a:ext cx="932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Erfolge feiern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3154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Jeden Abend zusätzlich: drei gute Dinge notieren.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36118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361188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Commitment im Chat: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„Ab morgen werde ich …“ – schreib deinen ersten konkreten Schritt.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7040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Wichtigste in Kürze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2930" y="1314450"/>
            <a:ext cx="251460" cy="2514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188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 ist trainierbar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481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Gehirn bleibt ein Leben lang formbar.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1965960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" y="2091690"/>
            <a:ext cx="251460" cy="2514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43000" y="1965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 ist der Hebel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22585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die Situation, sondern unser Blick darauf.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57200" y="2743200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" y="2868930"/>
            <a:ext cx="251460" cy="2514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2743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Kleine Schritte zählen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30358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Tägliche Mini-Übungen schlagen seltene große Vorsätze.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577840" y="1188720"/>
            <a:ext cx="3108960" cy="2103120"/>
          </a:xfrm>
          <a:prstGeom prst="roundRect">
            <a:avLst>
              <a:gd name="adj" fmla="val 3478"/>
            </a:avLst>
          </a:prstGeom>
          <a:solidFill>
            <a:srgbClr val="161616"/>
          </a:solidFill>
          <a:ln w="15875">
            <a:solidFill>
              <a:srgbClr val="E8963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806440" y="1417320"/>
            <a:ext cx="502920" cy="502920"/>
          </a:xfrm>
          <a:prstGeom prst="ellipse">
            <a:avLst/>
          </a:prstGeom>
          <a:solidFill>
            <a:srgbClr val="E8963C"/>
          </a:solidFill>
          <a:ln w="12700">
            <a:solidFill>
              <a:srgbClr val="E8963C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2170" y="1543050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80644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&amp; Austausch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5806440" y="242316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nimmst du heute mit? Schreib ein Wort in den Chat.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96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 für deine Aufmerksamkeit!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E8963C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Mindset und mentale Stärke</dc:title>
  <dc:subject>PptxGenJS Presentation</dc:subject>
  <dc:creator>Visual Academy</dc:creator>
  <cp:lastModifiedBy>Visual Academy</cp:lastModifiedBy>
  <cp:revision>1</cp:revision>
  <dcterms:created xsi:type="dcterms:W3CDTF">2026-09-27T09:00:06Z</dcterms:created>
  <dcterms:modified xsi:type="dcterms:W3CDTF">2026-09-27T09:00:06Z</dcterms:modified>
</cp:coreProperties>
</file>