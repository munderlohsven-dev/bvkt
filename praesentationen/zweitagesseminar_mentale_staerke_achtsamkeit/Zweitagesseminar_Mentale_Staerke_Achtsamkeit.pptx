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eigene Vorstellung, Organisatorisches (Räume, Pausen, Verpflegung, Wald-Exkursion an Tag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Zeiten sind ein Vorschlag und können an die Gruppe angepasst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Runde im Stuhlkreis, ca. 2 Minuten pro Person. Anliegen auf Karten notieren lassen und an die Pinnwand heften.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Flipchart mit Skala vorbereiten. Das Bild der Gruppe kurz wertfrei spiegeln. Am Ende von Tag 2 wiederholen.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Perspektivwechsel: Nicht nur fragen, was krank macht, sondern was gesund hält. Gesundheit als Kontinuum, nicht als Entweder-oder.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Angelehnt an das Job-Demands-Resources-Modell (Bakker &amp; Demerouti).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per Handzeichen abfragen, was am meisten zutrifft. Noch nicht vertiefen – wird im Stress-Block aufgegriffen.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Wertschätzend moderieren: Alter nicht als Defizit, sondern als Ressource. Die rechte Seite als Einladung zur Selbstfürsorge.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Einzelarbeit, danach Austausch in Zweiergruppen (5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Frage an die Gruppe: Was ist Ihr persönliches erstes Warnsignal? Wer sein Signal kennt, kann früher gegensteuern.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Heute ist die 'Gefahr' oft eine volle Mailbox. Der Körper reagiert gleich, doch die Energie wird nicht durch Bewegung abgebaut.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Antreiber haben meist eine gute Absicht und sind oft Teil unseres Erfolgs. Problematisch wird es, wenn sie absolut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Sitzen anleiten, ruhige Stimme, Pausen zum Nachspüren großzügig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 in Anlehnung an Reivich &amp; Shatté bzw. die deutschsprachige Resilienzliteratur. Säulen sind trainierbar.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Gerade für Teilnehmende 50+ sehr ergiebig. Achtsam begleiten: Nur teilen, was man teilen möchte.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Stephen Covey. Energie fließt dorthin, wo die Aufmerksamkeit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Aaron T. Beck (kognitive Verzerrungen). Mit Humor moderieren: Wir alle kennen diese Fallen.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Technik der kognitiven Defusion aus der Akzeptanz- und Commitment-Therapie (ACT, Steven Hayes).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Blitzlicht im Stuhlkreis: jede Person ein bis zwei Sätze. Ausblick auf Tag 2 und Hinweis auf wetterfeste Kleidung für den Wald.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Hausaufgabe für den Abend. Morgen früh kurz nachfragen.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Person nennt ihr Wetter und einen Satz dazu. Anschließend: Wer hat gestern Abend die drei guten Dinge ausprobiert? Was wirkt von Tag 1 nach?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Vorsichtig formulieren: Die Wirkung hängt von regelmäßiger Übung ab. Achtsamkeit ist kein Ersatz für Therapie bei psychischen Erkrankungen.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Klassische Einstiegsübung aus MBSR. Alternative: Nuss oder Apfelstück (Allergien abfragen).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4 Runden. Wer das Anhalten unangenehm findet, lässt es weg. Einsatz: vor Gesprächen, Präsentationen, schwierigen Telefonaten.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Gut geeignet vor dem Beantworten einer ärgerlichen E-Mail oder vor dem Abheben des Telefons.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Ultradiane Rhythmen (Nathaniel Kleitman): Richtwert, individuell verschieden.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Studien u. a. von Qing Li und Yoshifumi Miyazaki; Attention Restoration Theory nach Rachel und Stephen Kaplan. Wirkung nicht überhöhen: Waldbaden ist ein Erholungsangebot, keine Therapie.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Vorab klären: Mobilitätseinschränkungen, Allergien, Notfallnummer. Route und Sitzplätze vorher erkunden.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Kreis stehend oder sitzend. Wer mag, legt sein Naturgeschenk in die Mitte und sagt ein bis zwei Sätze. Optional Tee aus der Thermoskanne.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Anliegen-Karten von Tag 1 von der Pinnwand nehmen. Energie-Barometer wiederholen und mit dem Morgen von Tag 1 vergleichen. Feedbackbogen austeilen.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VKT/1e5a152e-5525-5b3e-a49f-ce1ddb0cad42/scratchpad/seminar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01168"/>
            <a:ext cx="1143000" cy="4992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image" Target="../media/image-7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6" Type="http://schemas.openxmlformats.org/officeDocument/2006/relationships/image" Target="../media/image-7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image" Target="../media/image-85-5.png"/><Relationship Id="rId6" Type="http://schemas.openxmlformats.org/officeDocument/2006/relationships/image" Target="../media/image-8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image" Target="../media/image-92-5.png"/><Relationship Id="rId6" Type="http://schemas.openxmlformats.org/officeDocument/2006/relationships/image" Target="../media/image-92-6.png"/><Relationship Id="rId7" Type="http://schemas.openxmlformats.org/officeDocument/2006/relationships/image" Target="../media/image-92-7.png"/><Relationship Id="rId8" Type="http://schemas.openxmlformats.org/officeDocument/2006/relationships/image" Target="../media/image-9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image" Target="../media/image-98-5.png"/><Relationship Id="rId6" Type="http://schemas.openxmlformats.org/officeDocument/2006/relationships/image" Target="../media/image-9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ZWEITAGESSEMINAR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Stärke, Achtsamkeit und Entschleunigung im Arbeitsalltag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Gelassener, klarer und ressourcenschonender arbeiten – ohne an Leistungsfähigkeit zu verlieren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69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Landkreis Osterholz  ·  Bildungsstätte Bredbeck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 um die 55 steht mit geschlossenen Augen auf einem Waldweg im Morgenlicht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Herzlich willkommen in Bredbeck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Tage, um den Blick vom Schreibtisch zu heben und bewusst bei sich anzukommen.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3852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756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3347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geschützter Rahmen fern vom Tagesgeschäft – für Austausch und neue Impulse.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73736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93852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20756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63347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320040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Wald rund um Bredbeck wird an Tag 2 selbst zum Seminarraum.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73736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93852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20756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63347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320040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 für Reflexion, Übungen und das, was im Alltag oft zu kurz kommt.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Lernziele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dem Seminar können Sie 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60705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481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Belastungen erkennen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755648"/>
            <a:ext cx="74980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Belastungsfaktoren im Arbeitsalltag bewusster erkennen und einordnen.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26894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252624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12689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Widerstandskraft stärken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401214"/>
            <a:ext cx="74980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mentale Widerstandskraft gezielt stärken.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772461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2898191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772461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 anwenden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046781"/>
            <a:ext cx="74980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Achtsamkeits- und Entspannungsübungen sicher im Alltag anwenden.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418027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543757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418027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Gelassener handeln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3692347"/>
            <a:ext cx="74980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Bewusster mit Gedanken, Emotionen und Reaktionen umgehen.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4063594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" y="4189324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406359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 nutzen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4337914"/>
            <a:ext cx="74980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heilsame Wirkung von Natur, Ruhe und Entschleunigung für sich nutzen.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zwei Tage im Überblick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1: Mentale Gesundheit &amp; Mindset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Gesundheit im Arbeitskontext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verstehen: innere und äußere Faktoren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 und mentale Stärke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und Bewertungen wahrnehmen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Selbstreflexion und Ressourcen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2: Achtsamkeit &amp; Waldbaden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 als Haltung und Methode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Atem-, Wahrnehmungs- und Kurzentspannung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Entschleunigung: kleine Pausen, große Wirkung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Geführte Waldbaden-Exkursion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in den Berufsalltag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 Tag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73352" y="1422400"/>
            <a:ext cx="0" cy="3007360"/>
          </a:xfrm>
          <a:prstGeom prst="line">
            <a:avLst/>
          </a:prstGeom>
          <a:noFill/>
          <a:ln w="1905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81912" y="133096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123444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 &amp; Kennenlernen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1036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81912" y="170688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61036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Gesundheit im Arbeitskontext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8628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81912" y="2082800"/>
            <a:ext cx="182880" cy="1828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198628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Kaffeepause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6220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81912" y="245872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236220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verstehen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3812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81912" y="2834640"/>
            <a:ext cx="182880" cy="1828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273812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Mittagspause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1404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81912" y="321056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65960" y="311404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 &amp; mentale Stärke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8996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81912" y="3586480"/>
            <a:ext cx="182880" cy="1828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65960" y="348996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6588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15:15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581912" y="396240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65960" y="386588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&amp; Bewertungen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4180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581912" y="433832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65960" y="424180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Tagesabschluss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852160" y="123444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46304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08076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Motto des Tages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080760" y="256032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Verstehen, was uns belastet – und entdecken, was uns stark macht.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Vereinbarungen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Vertraulichkeit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11680"/>
            <a:ext cx="30403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hier persönlich geteilt wird, bleibt im Raum.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23444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63540" y="141732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Freiwilligkeit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63540" y="2011680"/>
            <a:ext cx="30403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Übungen sind Angebote. Sie entscheiden, was Sie teilen.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2232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auf lautlos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34440" y="3817620"/>
            <a:ext cx="30403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schenken uns ungeteilte Aufmerksamkeit – Pausen gibt es regelmäßig.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63540" y="322326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Wohlwollen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63540" y="3817620"/>
            <a:ext cx="30403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hören einander zu, ohne zu bewerten. Jede Erfahrung zählt.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Kennenlernen: Mein Kraftort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30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&amp; Arbeitsbereich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sind Sie, und wo arbeiten Sie im Landkreis?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 Kraftort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Ort, an dem Sie auftanken – ein Platz im Garten, am Wasser, im Moor 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mir dort guttut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genau erleben Sie dort? Was spüren, hören, sehen Sie?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 Anliegen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möchte ich aus diesen zwei Tagen mitnehmen?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17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Holzsteg an einem stillen See bei Sonnenaufgang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Hinweis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Anliegen sammeln wir auf Moderationskarten an der Pinnwand. Am Ende von Tag 2 schauen wir, was sich erfüllt hat.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Energie-Barometer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27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voll ist Ihr Energietank gerade? Setzen Sie einen Klebepunkt.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2121408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03120" y="2121408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0" y="2121408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49040" y="2121408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0" y="2121408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394960" y="2121408"/>
            <a:ext cx="640080" cy="64008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121408"/>
            <a:ext cx="640080" cy="6400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2121408"/>
            <a:ext cx="640080" cy="6400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863840" y="2121408"/>
            <a:ext cx="640080" cy="6400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völlig leer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2898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= voller Energie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447288"/>
            <a:ext cx="8229600" cy="1124712"/>
          </a:xfrm>
          <a:prstGeom prst="roundRect">
            <a:avLst>
              <a:gd name="adj" fmla="val 650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447288"/>
            <a:ext cx="77724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im Durchschnitt der letzten drei Monate? Setzen Sie einen zweiten Punkt in einer anderen Farbe.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Gesundheit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sie im Arbeitskontext bedeutet – und warum sie uns alle angeht.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 um die 60 am Bürofenster, Kaffeetasse in der Hand, blickt ruhig ins Grüne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9728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Mentale Gesundheit ist mehr als die Abwesenheit von Krankheit.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Sinngemäß nach der Weltgesundheitsorganisation (WHO)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ist ein Zustand des Wohlbefindens, in dem wir unsere Fähigkeiten nutzen, mit Belastungen umgehen, produktiv arbeiten und etwas zur Gemeinschaft beitragen können.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 um die 55 fährt lächelnd Fahrrad auf einem Feldweg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Salutogenese: Was hält uns gesund?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Kohärenzgefühl nach Aaron Antonovsky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Verstehbarkeit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kann einordnen, was um mich herum passiert. Die Dinge ergeben ein Bild.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Handhabbarkeit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habe Ressourcen, um Anforderungen zu bewältigen – eigene oder mit Unterstützung.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819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Sinnhaftigkeit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lohnt sich, mich zu engagieren. Meine Arbeit ergibt für mich Sinn.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Anforderungen und Ressourcen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Balance entscheidet – nicht die Belastung allein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785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Anforderungen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Arbeitsmenge und Zeitdruck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Verantwortung und Entscheidungen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Schwierige Gespräche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Ständige Veränderungen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7785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Handlungsspielraum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Unterstützung im Team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Anerkennung und Sinn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Erfahrung und Kompetenz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Anforderungen dauerhaft die Ressourcen übersteigen, entsteht Stress. Die gute Nachricht: An beiden Seiten lässt sich arbeiten.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Arbeitsalltag in der Kreisverwaltung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kennen Sie davon?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90800" cy="1325880"/>
          </a:xfrm>
          <a:prstGeom prst="roundRect">
            <a:avLst>
              <a:gd name="adj" fmla="val 551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0345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9202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Verantwortung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Entscheidungen mit Wirkung auf Bürgerinnen, Bürger und Kolleg:innen.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6600" y="1737360"/>
            <a:ext cx="2590800" cy="1325880"/>
          </a:xfrm>
          <a:prstGeom prst="roundRect">
            <a:avLst>
              <a:gd name="adj" fmla="val 551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92024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20345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53840" y="19202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Infoflut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51460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E-Mails, Vorgänge, Vorschriften – und alles gleichzeitig.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96000" y="1737360"/>
            <a:ext cx="2590800" cy="1325880"/>
          </a:xfrm>
          <a:prstGeom prst="roundRect">
            <a:avLst>
              <a:gd name="adj" fmla="val 551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92024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20345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73240" y="19202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Wechselnde Anforderungen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51460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Gesetze, Zuständigkeiten und Prioritäten.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291840"/>
            <a:ext cx="2590800" cy="1325880"/>
          </a:xfrm>
          <a:prstGeom prst="roundRect">
            <a:avLst>
              <a:gd name="adj" fmla="val 551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5890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4747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Anspruchsvolles Miteinander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406908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Bürgerkontakt, Schnittstellen, unterschiedliche Erwartungen.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76600" y="3291840"/>
            <a:ext cx="2590800" cy="1325880"/>
          </a:xfrm>
          <a:prstGeom prst="roundRect">
            <a:avLst>
              <a:gd name="adj" fmla="val 551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59480" y="34747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58902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53840" y="34747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Digitalisierung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59480" y="406908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Programme und Abläufe, die eingeübt werden wollen.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96000" y="3291840"/>
            <a:ext cx="2590800" cy="1325880"/>
          </a:xfrm>
          <a:prstGeom prst="roundRect">
            <a:avLst>
              <a:gd name="adj" fmla="val 5517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78880" y="34747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58902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73240" y="34747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Vertretungen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78880" y="406908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Fehlende Stellen und Urlaubszeiten verdichten die Arbeit.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50+ im Beruf: Stärken nutzen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mit den Jahren wächst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Erfahrungswissen und Überblick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Urteilsvermögen und Gelassenheit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Tragfähige Netzwerke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Wissen um die eigenen Grenzen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Worauf wir mehr achten dürfen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Erholung braucht oft mehr Zeit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 wird störanfälliger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Bewegung wird wichtiger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 bewusst einplanen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Arbeitssituation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gibt mir in meiner Arbeit Kraft und Sinn?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863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49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49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092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kostet mich derzeit besonders viel Energie?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habe ich Gestaltungsspielraum – auch einen kleinen?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863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49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49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092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hat sich in den letzten Jahren für mich verändert?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Energiebilanz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Blatt teilen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Zeichnen Sie eine Linie in die Mitte: links Räuber, rechts Spender.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Sammeln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Notieren Sie je 5 Dinge aus Beruf und Privatleben.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Gewichten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Markieren Sie die drei stärksten Räuber und Spender.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Stellschraube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Welchen Räuber können Sie verkleinern, welchen Spender vergrößern?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Leitfrage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wäre eine kleine Veränderung, die meine Bilanz schon nächste Woche verbessert?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Frühwarnsignale erkennen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7850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Körper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Verspannungen, Kopfschmerzen, Magen-Darm-Beschwerden.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66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94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77850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538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594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Grübeln, Konzentrationsprobleme, „Ich schaffe das nicht“.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60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788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77850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32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Gefühle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788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Gereiztheit, Unruhe, Niedergeschlagenheit.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61004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Verhalten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Hektik, mehr Kaffee, weniger Pausen, Rückzug.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766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594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461004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0538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Schlaf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34594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Schlecht einschlafen, nachts aufwachen und grübeln.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0960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788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461004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732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Kontakte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788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Lust auf Menschen, Hobbys, Unternehmungen.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verstehen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 und äußere Belastungsfaktoren erkennen und einordnen.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Überladener Schreibtisch mit Aktenstapeln, Telefon und Bildschirm, Hände an den Schläfen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Stress?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Hans Selye: Stress ist nicht per se schlecht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785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Eustress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Aktiviert und motiviert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Zeitlich begrenzt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Gefühl von Herausforderung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Macht auch Freude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7785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Distress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Überfordert und lähmt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Dauerhaft, ohne Erholung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Gefühl von Bedrohung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Macht auf Dauer krank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Entscheidend ist der Wechsel: Anspannung braucht Entspannung – wie Ein- und Ausatmen.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Stressreaktion im Körper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uraltes Programm für Kampf oder Flucht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Wahrnehmen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Gehirn meldet: Gefahr oder Anforderung!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6038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8918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891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318918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18918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Stresshormone wie Adrenalin und Cortisol werden ausgeschüttet.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14877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97757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97757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97757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97757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Puls, Blutdruck und Muskelspannung steigen.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93715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76595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76595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76595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Tunnelblick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76595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Aufmerksamkeit verengt sich, kreatives Denken sinkt.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2554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55434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55434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55434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Erholung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55434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der Gefahr fährt der Körper wieder herunter – wenn wir ihn lassen.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Stress-Ampel nach Gert Kaluza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21280" cy="26517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Stressoren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30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setzt mich unter Druck? Zeitdruck, Konflikte, Lärm, Unterbrechungen.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1360" y="1234440"/>
            <a:ext cx="2621280" cy="26517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4240" y="13258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44240" y="2057400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Stressverstärker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44240" y="2560320"/>
            <a:ext cx="230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mache ich daraus? Eigene Ansprüche, Erwartungen, innere Antreiber.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65520" y="1234440"/>
            <a:ext cx="2621280" cy="26517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48400" y="13258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248400" y="2057400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Stressreaktion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560320"/>
            <a:ext cx="230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 mit mir? Körper, Gefühle, Gedanken, Verhalten.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gerate in Stress, weil … (1), weil ich … (2), und dann … (3).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Äußere Belastungsfaktoren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Fristen, Termindichte, zu viele Aufgaben gleichzeitig.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38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Unterbrechungen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Telefon, E-Mails, „Hast du mal kurz …?“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32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Soziales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Konflikte, schwierige Gespräche, fehlende Wertschätzung.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Veränderung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Umstrukturierung, neue Software, neue Vorgesetzte.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766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375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538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Umgebung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594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Lärm, Großraumbüro, schlechte Luft, Licht.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960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32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Pflege von Angehörigen, Gesundheit, Familie.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 Stressverstärker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Persönliche Antreiber nach Gert Kaluza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96796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perfekt!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„Fehler darf ich mir nicht erlauben.“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36038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18918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218" y="179679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18918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beliebt!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318918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will es allen recht machen.“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14877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997757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057" y="1796796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97757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stark!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997757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schaffe das allein.“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93715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76595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895" y="179679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76595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vorsichtig!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676595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muss alles unter Kontrolle haben.“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172554" y="1481328"/>
            <a:ext cx="1514246" cy="2834640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55434" y="16824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34" y="1796796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55434" y="228600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kann nicht!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355434" y="2852928"/>
            <a:ext cx="11942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„Das ist mir alles zu viel.“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Stressverstärker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Einschätzen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Bewerten Sie jeden der fünf Antreiber von 1 (trifft nicht zu) bis 5 (trifft voll zu).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Welcher Antreiber ist bei Ihnen am stärksten? In welchen Situationen zeigt er sich?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Würdigen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Wobei hat Ihnen dieser Antreiber schon geholfen?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Erlauber formulieren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Finden Sie einen entlastenden Satz: „Gut ist gut genug.“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Beispiele für Erlauber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darf Fehler machen.“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darf Nein sagen.“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darf um Hilfe bitten.“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darf Pause machen.“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entsteht durch Bewertung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Transaktionales Stressmodell nach Richard Lazarus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Bewertung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die Situation für mich positiv, irrelevant oder bedrohlich?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136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424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4424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Zweite Bewertung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Habe ich die Mittel, um damit umzugehen?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840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Bewältigung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handle, suche Unterstützung oder verändere meine Sicht.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Situation kann für zwei Menschen völlig unterschiedlichen Stress bedeuten.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Wege der Stressbewältigung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Gert Kaluza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Instrumentell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Situation verändern: planen, delegieren, Nein sagen, Probleme lösen.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Bewertung verändern: Ansprüche prüfen, Gedanken umdeuten, annehmen.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819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Regenerativ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Reaktion abfedern: Entspannung, Bewegung, Schlaf, soziale Kontakte.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Stress-Landkarte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18998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189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PARTNERÜBUNG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wählen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Wählen Sie eine typische Stresssituation aus Ihrem Arbeitsalltag.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Ampel anwenden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Stressor? Was ist mein Verstärker? Wie reagiere ich?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Wege sammeln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Suchen Sie gemeinsam je eine Idee für alle drei Bewältigungswege.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Rollentausch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10 Minuten wechseln Sie die Rollen.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Zuhörende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Zuhören, nachfragen, Ideen anbieten – nicht bewerten und keine Ratschläge aufdrängen.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Die schnelle Stressbremse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2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„physiologische Seufzer“ – zweimal ein, einmal lang aus: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65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 einatmen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21992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 die Nase einatmen, bis die Lunge fast gefüllt ist.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65476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65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471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Nachatmen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03220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einmal kurz durch die Nase nachschnuppern.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3284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ausatmen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84448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Langsam und vollständig durch den Mund ausatmen.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7932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0279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096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Wiederholen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265676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bis drei Mal – und spüren, wie der Körper ruhiger wird.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984248"/>
            <a:ext cx="2651760" cy="2542032"/>
          </a:xfrm>
          <a:prstGeom prst="roundRect">
            <a:avLst>
              <a:gd name="adj" fmla="val 2878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221284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2338578"/>
            <a:ext cx="251460" cy="2514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26364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es wirkt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3218688"/>
            <a:ext cx="2240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verlängerte Ausatmung aktiviert den Parasympathikus – das körpereigene Bremssystem.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Muskelentspannung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Kurzform nach Edmund Jacobson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04888" y="941832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04888" y="94183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Hände &amp; Arme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19072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Fäuste ballen, Arme anspannen, 5 Sek. halten – loslassen.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268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268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1086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Gesicht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3646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Stirn runzeln, Augen und Lippen zusammenpressen – loslassen.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72461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7724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754173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Schultern &amp; Nacken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10205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Schultern zu den Ohren ziehen – halten – fallen lassen.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8027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180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3997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Bauch &amp; Rücken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655771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Bauch anspannen, Schulterblätter zusammen – loslassen.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635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635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0453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Beine &amp; Füße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3013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Zehen anziehen, Beine strecken – loslassen.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Hinweis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so stark anspannen, dass es angenehm bleibt. Bei Beschwerden die Region auslassen.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 und mentale Stärke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innere Widerstandskraft im beruflichen Alltag stärken.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Birken im Wind in der Moorlandschaft des Teufelsmoors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9728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 heißt nicht, nie zu fallen – sondern immer wieder aufzustehen.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 = psychische Widerstandskraft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Bambus im Sturm: Er biegt sich, aber er bricht nicht. Resilienz ist keine feste Eigenschaft, sondern lässt sich ein Leben lang stärken.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Pflanze wächst durch einen Riss im Pflaster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sieben Säulen der Resilienz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Akzeptanz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Annehmen, was sich nicht ändern lässt.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175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463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463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5463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Optimismus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75463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Vertrauen, dass schwere Zeiten vorübergehen.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630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918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91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Selbstwirksamkeit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Überzeugung, etwas bewirken zu können.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085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373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8373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Verantwortung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eigene Rolle aktiv gestalten.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4038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20497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2049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69874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00964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Beziehungen pflegen, Hilfe annehmen.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71750" y="304038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54630" y="320497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54630" y="32049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754630" y="369874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Lösungsfokus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754630" y="400964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vorne schauen statt grübeln.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86300" y="304038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9180" y="320497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69180" y="32049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869180" y="369874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Zukunft planen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869180" y="400964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Ziele setzen und gestalten.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 Resilienz-Profil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Einschätzen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Bewerten Sie jede der sieben Säulen von 1 bis 10.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Visualisieren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Tragen Sie die Werte in das Netzdiagramm im Arbeitsblatt ein.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Stärke benennen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Säule ist Ihre stärkste? Wie hat sie Ihnen schon geholfen?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Wachstum wählen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Säule möchten Sie um einen Punkt stärken – und wie?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Wichtig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kein richtiges Profil. Jede Säule kann eine andere stützen.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Statisches und dynamisches Selbstbild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nach Carol Dweck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7440" y="1435608"/>
            <a:ext cx="3017520" cy="3227832"/>
          </a:xfrm>
          <a:prstGeom prst="roundRect">
            <a:avLst>
              <a:gd name="adj" fmla="val 24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435608"/>
            <a:ext cx="3108960" cy="3227832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527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Mindset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27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29968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Herausforderungen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029968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werden vermieden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029968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werden angenommen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47518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Hindernisse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547518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führen zum Aufgeben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547518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fördern Ausdauer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65069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Anstrengung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065069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gilt als sinnlos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065069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der Weg zum Können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82619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582619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abgewehrt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582619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als Lernchance genutzt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00170"/>
            <a:ext cx="18288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Veränderung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100170"/>
            <a:ext cx="27432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wirkt bedrohlich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100170"/>
            <a:ext cx="283464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weckt Neugier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Neuroplastizität: Lernen ein Leben lang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Gehirn bleibt in jedem Alter veränderbar. Was wir wiederholen, wird stärker.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3852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756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3347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Trampelpfad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Denkweisen fühlen sich anfangs mühsam an – wie ein Weg durch hohes Gras.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73736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93852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20756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63347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320040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Wiederholung stärkt die Verbindung. Aus dem Pfad wird ein Weg.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737360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938528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20756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633472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Gewohnheit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3200400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trainierte Muster laufen automatisch ab. Das gilt auch für neue.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Selbstwirksamkeit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Albert Bandura: „Ich kann das schaffen.“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60705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Erfolge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755648"/>
            <a:ext cx="4114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stärkste Quelle: selbst etwas gemeistert haben.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88286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414016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28828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Vorbilder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562606"/>
            <a:ext cx="4114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Sehen, wie Menschen wie ich es schaffen.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095244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220974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0952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Ermutigung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369564"/>
            <a:ext cx="4114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Zuspruch von anderen – und von mir selbst.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902202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4027932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90220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Körpergefühl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4176522"/>
            <a:ext cx="4114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Anspannung als Energie deuten statt als Gefahr.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577840" y="1481328"/>
            <a:ext cx="3108960" cy="3044952"/>
          </a:xfrm>
          <a:prstGeom prst="roundRect">
            <a:avLst>
              <a:gd name="adj" fmla="val 2402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806440" y="1664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806440" y="2075688"/>
            <a:ext cx="265176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Große Aufgaben in kleine Schritte zerlegen. Jeder erreichte Schritt ist ein Mini-Erfolg und stärkt das Gefühl: Ich bewirke etwas.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Lebenslinie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zeichnen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Zeichnen Sie Ihr Berufsleben als Linie mit Höhen und Tiefen.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Tiefpunkte markieren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gab es schwierige Phasen, Umbrüche oder Krisen?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Wendepunkte finden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hat Ihnen geholfen, wieder nach oben zu kommen?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Stärken ableiten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Fähigkeiten haben Sie dabei gezeigt? Notieren Sie drei.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zeichnet eine Lebenslinie mit Höhen und Tiefen auf Papier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Erkenntnis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haben schon viele Stürme überstanden. Diese Erfahrung ist Ihr größtes Kapital.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Ressourcen-Interview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18998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189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PARTNERÜBUNG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erzählt von einer beruflichen Situation, die gut gemeistert wurde.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Nachfragen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fragt: Was genau hast du getan? Was hat dir geholfen?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Spiegeln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benennt die Stärken, die er oder sie gehört hat.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10 Minuten tauschen Sie die Rollen.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Hilfreiche Fragen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„Wie hast du das geschafft?“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sagt das über dich aus?“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„Wer oder was hat dich unterstützt?“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 Einflussbereich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66160" cy="3566160"/>
          </a:xfrm>
          <a:prstGeom prst="ellipse">
            <a:avLst/>
          </a:prstGeom>
          <a:solidFill>
            <a:srgbClr val="1616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920240"/>
            <a:ext cx="2103120" cy="21031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9202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 ich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beeinflussen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nicht in meiner Hand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meiner Hand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737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Vorbereitung und Planung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Reaktion und Haltung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 ich um Unterstützung bitte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in meiner Hand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Gesetzesänderungen, Politik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Verhalten anderer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Vergangenheit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Sorgen sortieren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Kreise zeichnen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großen Kreis auf Ihr Blatt, darin einen kleinen.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Sorgen sammeln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Notieren Sie alles, was Sie gerade beruflich beschäftigt.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Einsortieren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können Sie beeinflussen? Innen. Alles andere: außen.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Schritt wählen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Nehmen Sie sich für den inneren Kreis eine konkrete Handlung vor.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den äußeren Kreis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 hilft Akzeptanz: „Das kann ich nicht ändern. Ich entscheide, wie viel Raum ich ihm gebe.“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Rückschläge meistern: Die 3 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Martin Seligman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Falle: „Es liegt nur an mir.“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Gegenfrage: Welche Umstände haben auch mitgespielt?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Falle: „Das wird immer so sein.“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Gegenfrage: Was kann beim nächsten Mal anders sein?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819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Pervasiv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Falle: „Alles geht schief.“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Gegenfrage: Welche Lebensbereiche laufen gerade gut?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und Bewertungen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Einstellungen und innere Bewertungen bewusst wahrnehmen.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Wolken spiegeln sich in einem stillen Moorsee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9728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die Dinge selbst beunruhigen die Menschen, sondern ihre Urteile über die Dinge.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Epiktet, griechischer Philosoph (ca. 50–138 n. Chr.)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fast 2.000 Jahre alte Einsicht ist die Grundlage moderner kognitiver Methoden.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Ruhige Wasseroberfläche mit einem einzelnen fallenden Tropfen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ABC-Modell nach Albert Ellis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21280" cy="26517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Auslöser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30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Amtsleitung antwortet seit zwei Tagen nicht auf meine Mail.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1360" y="1234440"/>
            <a:ext cx="2621280" cy="26517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4240" y="13258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44240" y="2057400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44240" y="2560320"/>
            <a:ext cx="230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„Sie ist bestimmt unzufrieden mit meiner Arbeit.“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65520" y="1234440"/>
            <a:ext cx="2621280" cy="26517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48400" y="1325880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248400" y="2057400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Konsequenz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560320"/>
            <a:ext cx="230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Unruhe, Grübeln am Abend, schlechter Schlaf.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Hebel liegt bei B: Den Auslöser können wir oft nicht ändern – unsere Bewertung schon.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ABC-Analyse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– Situation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Denken Sie an eine Situation der letzten Wochen, die Sie belastet 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268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268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086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– Gedanken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646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genau haben Sie in dem Moment gedacht? Möglichst wörtlich.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72461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724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754173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– Folgen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010205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Gefühle, Körperreaktionen und Handlungen folgten?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18027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180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3997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– Hinterfragen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55771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der Gedanke wahr? Hilfreich? Gibt es eine andere Sicht?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35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635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0453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– Neue Wirkung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3013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fühlen Sie sich mit der neuen Sichtweise?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Austausch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mag, teilt im Plenum seine neue Sichtweise (D) – ohne die Situation im Detail zu schildern.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Typische Denkfallen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Schwarz-Weiß-Denken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„Entweder perfekt oder gar nicht.“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38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Katastrophisieren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„Wenn das schiefgeht, ist alles vorbei.“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32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Gedankenlesen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„Die denken bestimmt, ich bin zu alt dafür.“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Verallgemeinern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„Das klappt bei mir nie.“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766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375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538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Muss-Sätze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594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muss immer erreichbar sein.“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960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32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Personalisieren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„Die Stimmung im Team ist schlecht – meinetwegen.“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Denkfallen-Detektiv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Sammeln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Notieren Sie drei belastende Gedanken aus Ihrem Arbeitsalltag.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Denkfalle steckt jeweils dahinter?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Beweise prüfen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spricht dafür, was dagegen? Was sind Fakten, was Vermutungen?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 formulieren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Formulieren Sie einen realistischeren, hilfreicheren Gedanken.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„Das klappt nie.“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„Es hat diesmal nicht geklappt. Beim letzten Projekt lief es gut.“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umdeuten: Reframing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Wählen Sie einen belastenden Gedanken und stellen Sie sich drei Fragen: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2590800" cy="263347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8541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22576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88036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Stimmt das wirklich?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47288"/>
            <a:ext cx="2270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Fakten sprechen dafür – welche dagegen?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76600" y="1984248"/>
            <a:ext cx="2590800" cy="263347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9480" y="218541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232257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59480" y="288036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würde ich einer Kollegin raten?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59480" y="3447288"/>
            <a:ext cx="2270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anderen sind wir oft viel freundlicher als zu uns selbst.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96000" y="1984248"/>
            <a:ext cx="2590800" cy="263347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78880" y="218541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232257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78880" y="288036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wichtig ist das in einem Jahr?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78880" y="3447288"/>
            <a:ext cx="2270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Abstand relativiert – und schafft Handlungsspielraum.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Innerer Kritiker und innerer Coach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Innerer Kritiker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„Das hättest du wissen müssen.“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„Andere schaffen das mit links.“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„Mit über 50 lernst du das nicht mehr.“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Innerer Coach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„Das war schwierig. Was nimmst du mit?“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„Du hast schon Schwereres geschafft.“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„Schritt für Schritt – du hast Zeit.“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Schreiben Sie drei typische Sätze Ihres Kritikers auf und formulieren Sie jeweils eine Antwort Ihres Coaches. Tipp: Sprechen Sie mit sich selbst mit Ihrem Vornamen – das schafft Abstand.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Die Kraft des Wortes „noch“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657600" cy="691896"/>
          </a:xfrm>
          <a:prstGeom prst="roundRect">
            <a:avLst>
              <a:gd name="adj" fmla="val 10573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81328"/>
            <a:ext cx="33375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kann das nicht.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481328"/>
            <a:ext cx="54864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481328"/>
            <a:ext cx="3840480" cy="691896"/>
          </a:xfrm>
          <a:prstGeom prst="roundRect">
            <a:avLst>
              <a:gd name="adj" fmla="val 1057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488" y="1481328"/>
            <a:ext cx="352044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kann das noch nicht.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74392"/>
            <a:ext cx="3657600" cy="691896"/>
          </a:xfrm>
          <a:prstGeom prst="roundRect">
            <a:avLst>
              <a:gd name="adj" fmla="val 10573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374392"/>
            <a:ext cx="33375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der neuen Software komme ich nicht klar.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374392"/>
            <a:ext cx="54864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46320" y="2374392"/>
            <a:ext cx="3840480" cy="691896"/>
          </a:xfrm>
          <a:prstGeom prst="roundRect">
            <a:avLst>
              <a:gd name="adj" fmla="val 1057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2374392"/>
            <a:ext cx="352044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lerne die Software gerade noch.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67456"/>
            <a:ext cx="3657600" cy="691896"/>
          </a:xfrm>
          <a:prstGeom prst="roundRect">
            <a:avLst>
              <a:gd name="adj" fmla="val 10573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267456"/>
            <a:ext cx="33375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klappt bei mir nie.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267456"/>
            <a:ext cx="54864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846320" y="3267456"/>
            <a:ext cx="3840480" cy="691896"/>
          </a:xfrm>
          <a:prstGeom prst="roundRect">
            <a:avLst>
              <a:gd name="adj" fmla="val 1057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47488" y="3267456"/>
            <a:ext cx="352044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hat bisher noch nicht geklappt.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kleines Wort verwandelt ein Urteil in einen Prozess.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Abstand zu Gedanken gewinnen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sind Ereignisse im Kopf – keine Tatsachen.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65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wählen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21992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Nehmen Sie einen belastenden Gedanken, z. B. „Ich schaffe das nicht.“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65476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65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471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Umformulieren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03220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Innerlich: „Ich habe den Gedanken, dass …“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3284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mehr Abstand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84448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bemerke, dass ich den Gedanken habe …“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7932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0279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096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Nachspüren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265676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verändert sich? Meist verliert der Gedanke etwas an Kraft.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984248"/>
            <a:ext cx="2651760" cy="2542032"/>
          </a:xfrm>
          <a:prstGeom prst="roundRect">
            <a:avLst>
              <a:gd name="adj" fmla="val 2878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221284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2338578"/>
            <a:ext cx="251460" cy="2514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26364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dazu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3218688"/>
            <a:ext cx="2240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Gedanken sind wie Wolken am Himmel. Wir können sie beobachten, ohne ihnen hinterherzulaufen.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Tagesabschluss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90800" cy="313639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04288"/>
            <a:ext cx="2179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war heute für mich die wichtigste Erkenntnis?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481328"/>
            <a:ext cx="2590800" cy="313639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52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52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05200" y="2304288"/>
            <a:ext cx="2179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Übung probiere ich heute Abend oder morgen früh aus?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481328"/>
            <a:ext cx="2590800" cy="313639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46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24600" y="2304288"/>
            <a:ext cx="2179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welchem Gefühl gehe ich aus dem ersten Tag?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 für den Abend: Drei gute Dinge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47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Dinge, jeden Abend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481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aus der Positiven Psychologie (Martin Seligman)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0299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011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Aufschreiben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2677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Dinge, die heute gut waren – auch kleine.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807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788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044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Notieren Sie, warum sie passiert sind und was Ihr Anteil war.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5844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566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Dranbleiben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8221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Woche lang täglich – dann Wirkung beobachten.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Achtsamkeit, Entschleunigung und Waldbaden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Guten Morgen! Heute steht das bewusste Erleben im Mittelpunkt.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69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Bildungsstätte Bredbeck  ·  Seminarraum und Wald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06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Buchenwald mit Morgennebel und Sonnenstrahlen über einem Waldweg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 Tag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73352" y="1422400"/>
            <a:ext cx="0" cy="3007360"/>
          </a:xfrm>
          <a:prstGeom prst="line">
            <a:avLst/>
          </a:prstGeom>
          <a:noFill/>
          <a:ln w="1905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81912" y="133096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123444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 &amp; Check-in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1036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81912" y="170688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61036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8628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81912" y="2082800"/>
            <a:ext cx="182880" cy="1828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198628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Kaffeepause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6220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81912" y="245872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236220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 &amp; Kurzentspannung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3812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11:45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81912" y="283464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273812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Entschleunigung im Alltag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1404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81912" y="3210560"/>
            <a:ext cx="182880" cy="1828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65960" y="311404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Mittagspause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8996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81912" y="358648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65960" y="348996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Waldbaden-Exkursion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6588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15:30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581912" y="396240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65960" y="386588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in den Alltag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41800"/>
            <a:ext cx="96012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581912" y="4338320"/>
            <a:ext cx="182880" cy="182880"/>
          </a:xfrm>
          <a:prstGeom prst="ellipse">
            <a:avLst/>
          </a:prstGeom>
          <a:solidFill>
            <a:srgbClr val="E8963C"/>
          </a:solidFill>
          <a:ln w="19050">
            <a:solidFill>
              <a:srgbClr val="E896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65960" y="4241800"/>
            <a:ext cx="3566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 &amp; Feedback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852160" y="123444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46304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00200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08076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den Wald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080760" y="256032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Bitte an wetterfeste Kleidung, festes Schuhwerk und eine Sitzunterlage denken. Wir sind ca. 2 Stunden draußen.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Check-in: Mein inneres Wetter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Wetter beschreibt Ihre Stimmung heute Morgen am besten?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29971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Sonnig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Klar, leicht, voller Energie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36038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18918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218" y="229971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318918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Heiter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318918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Überwiegend gut, ein paar Wolken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814877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997757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057" y="229971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97757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Bewölkt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997757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Etwas gedämpft, noch nicht ganz wach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93715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76595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895" y="229971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76595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Regnerisch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676595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Schwer, müde oder nachdenklich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172554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55434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734" y="229971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355434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Gewittrig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355434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Unruhig, angespannt, aufgeladen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 als Haltung und als Methode.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07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Hände halten eine Tasse Tee, Dampf steigt auf, weiches Fensterlicht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9728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 bedeutet, auf eine bestimmte Weise aufmerksam zu sein: bewusst, im gegenwärtigen Augenblick und ohne zu bewerten.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 Kabat-Zinn, Begründer des MBSR-Programms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MBSR = Mindfulness-Based Stress Reduction, Stressbewältigung durch Achtsamkeit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16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berührt sanft ein Moospolster im Wald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 oder Achtsamkeit?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377440" y="1188720"/>
            <a:ext cx="3017520" cy="3474720"/>
          </a:xfrm>
          <a:prstGeom prst="roundRect">
            <a:avLst>
              <a:gd name="adj" fmla="val 24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1188720"/>
            <a:ext cx="3108960" cy="347472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603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Aufmerksamkeit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in Gedanken woanders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783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im Hier und Jetzt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50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Reaktion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3500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automatisch, impulsiv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3500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bewusst, gewählt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169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9169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sofort gut oder schlecht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9169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einmal wahrnehmen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83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34838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nebenbei am Schreibtisch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4838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allen Sinnen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50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050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läuft ungebremst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40507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Raum zwischen Reiz und Reaktion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Sieben Grundhaltungen der Achtsamkeit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Jon Kabat-Zinn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88595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39696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urteilen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15659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Wahrnehmen, ohne sofort zu bewerten.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1750" y="1481328"/>
            <a:ext cx="188595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54630" y="1645920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5463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54630" y="2139696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Geduld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754630" y="2450592"/>
            <a:ext cx="15659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Dinge dürfen sich in ihrem Tempo entfalten.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6300" y="1481328"/>
            <a:ext cx="188595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9180" y="1645920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691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139696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Anfängergeist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2450592"/>
            <a:ext cx="15659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so sehen, als wäre es das erste Mal.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0850" y="1481328"/>
            <a:ext cx="188595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83730" y="1645920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8373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139696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Vertrauen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83730" y="2450592"/>
            <a:ext cx="15659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eigenen Wahrnehmung trauen.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63824"/>
            <a:ext cx="188595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328416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22192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erzwingen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133088"/>
            <a:ext cx="15659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erreichen müssen – einfach sein.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71750" y="3163824"/>
            <a:ext cx="188595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54630" y="3328416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5463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754630" y="3822192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Akzeptanz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754630" y="4133088"/>
            <a:ext cx="15659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Anerkennen, was gerade ist.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6300" y="3163824"/>
            <a:ext cx="188595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9180" y="3328416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691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869180" y="3822192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Loslassen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869180" y="4133088"/>
            <a:ext cx="15659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an Gedanken festhalten.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Achtsamkeit bewirken kann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Befunde aus Studien zu achtsamkeitsbasierten Programmen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Stress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Teilnehmende berichten häufig ein geringeres Stresserleben und mehr Gelassenheit.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Fokus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Aufmerksamkeit und Konzentration lassen sich durch Übung stärken.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819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Emotionen regulieren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Abstand zu Ärger und Sorgen, weniger Grübeln.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Rosinen-Übung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Rosine – als hätten Sie sie noch nie gesehen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04888" y="941832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04888" y="94183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Betrachten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19072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Farbe, Form, Falten, Glanz im Licht.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268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268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1086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Fühlen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3646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fühlt sie sich zwischen den Fingern an?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72461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7724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754173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Riechen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10205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Welcher Duft steigt auf? Was passiert im Mund?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8027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180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3997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Schmecken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655771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den Mund nehmen, nicht kauen. Dann langsam kauen.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635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635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0453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Schlucken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3013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 schlucken und nachspüren.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Nahaufnahme von Rosinen in einer kleinen Keramikschale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Austausch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war anders als sonst? Wie oft essen wir im Autopiloten?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Body-Scan in Kurzform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Sitzen oder Liegen durch den Körper wandern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04888" y="941832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04888" y="94183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19072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Augen schließen oder Blick senken. Den Kontakt zum Boden spüren.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268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268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1086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Füße &amp; Beine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3646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Wärme, Kribbeln, Druck – oder auch nichts. Alles ist in Ordnung.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72461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7724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754173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Rumpf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10205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Rücken an der Lehne, Bauch und Brust im Atem spüren.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8027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180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3997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Schultern &amp; Kopf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655771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Nacken, Kiefer, Stirn: Darf etwas loslassen?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635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635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0453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Ganzer Körper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3013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Körper als Ganzes wahrnehmen. Langsam zurückkommen.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20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liegt entspannt mit Decke auf einer Matte im Seminarraum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Haltung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muss sich verändern. Wir nehmen nur wahr, was da 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3-Minuten-Atemraum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der achtsamkeitsbasierten kognitiven Therapie (MBCT)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1756" y="941832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91756" y="941832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3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gerade da? Gedanken, Gefühle, Körperempfindungen – einfach bemerken.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136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424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44424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Sammeln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4424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Aufmerksamkeit ganz auf den Atem lenken. Ein- und Ausatmen spüren.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5520" y="1481328"/>
            <a:ext cx="2621280" cy="2404872"/>
          </a:xfrm>
          <a:prstGeom prst="roundRect">
            <a:avLst>
              <a:gd name="adj" fmla="val 3042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8400" y="1572768"/>
            <a:ext cx="234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248400" y="2304288"/>
            <a:ext cx="230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2807208"/>
            <a:ext cx="2301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Wahrnehmung auf den ganzen Körper und den Raum ausdehnen.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zwischen zwei Terminen: wie eine Sanduhr – weit, eng, weit.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Achtsames Zuhören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18998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189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PARTNERÜBUNG · 15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erzählt 3 Minuten: „Was mir in meiner Arbeit wichtig ist …“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Zuhören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hört nur zu – ohne Unterbrechen, Nicken ist erlaubt.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Zusammenfassen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gibt in eigenen Worten wieder, was angekommen ist.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Rollentausch – danach kurzer Austausch zu zweit.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Kolleg:innen 50+ im aufmerksamen Gespräch am Tisch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Nachspüren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war es, wirklich gehört zu werden? Wie schwer war es, nur zuzuhören?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bin ich im Autopiloten?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welchen Tätigkeiten bin ich oft gedanklich ganz woanders?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863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49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49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092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welchen Momenten reagiere ich automatisch, obwohl ich es anders möchte?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Alltagstätigkeit möchte ich künftig bewusst achtsam tun?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863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49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49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092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könnte mich daran erinnern?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 und Kurzentspannung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Übungen für zwischendurch – am Schreibtisch, im Auto, vor dem Termin.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08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50+ sitzt aufrecht mit geschlossenen Augen im hellen Seminarraum und atmet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Atem als Fernbedienung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Nervensystem hat Gaspedal und Bremse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785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Sympathikus – Gaspedal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Aktivierung und Leistung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 und Blutdruck steigen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 flach und schnell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Einatmung betont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81328"/>
            <a:ext cx="4023360" cy="2176272"/>
          </a:xfrm>
          <a:prstGeom prst="roundRect">
            <a:avLst>
              <a:gd name="adj" fmla="val 336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7785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Parasympathikus – Bremse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58568"/>
            <a:ext cx="3611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Erholung und Verdauung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 und Blutdruck sinken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 tief und ruhig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Ausatmung betont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Herzschlag können wir nicht direkt steuern – den Atem schon. Über ihn beeinflussen wir unser Nervensystem.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Breathing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94960" y="1371600"/>
            <a:ext cx="2743200" cy="2743200"/>
          </a:xfrm>
          <a:prstGeom prst="rect">
            <a:avLst/>
          </a:prstGeom>
          <a:solidFill>
            <a:srgbClr val="000000"/>
          </a:solidFill>
          <a:ln w="381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0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731520" cy="7315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56032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15727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Einatmen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1810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ruhig durch die Nase.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286000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523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die Luft anhalten.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99232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Ausatmen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32369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langsam durch den Mund.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71246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3950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Pause – dann von vorn.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4-6-Atmung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</a:t>
            </a:r>
            <a:endParaRPr lang="en-US" sz="9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47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Sek. ein  ·  Sek. aus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481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verlängerte Ausatmung beruhigt das Nervensystem.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0299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011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Aufrecht sitzen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267712"/>
            <a:ext cx="493776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Füße auf dem Boden, eine Hand auf dem Bauch.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676906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67690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65861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Sekunden ein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914650"/>
            <a:ext cx="493776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 die Nase, der Bauch hebt sich.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32384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323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3055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Sekunden aus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561588"/>
            <a:ext cx="493776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Langsam durch leicht geöffnete Lippen.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970782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39707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95249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208526"/>
            <a:ext cx="493776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Etwa sechs Atemzüge pro Minute.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Notfall-Übung: 5-4-3-2-1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Holt Sie bei Stress und Gedankenkarussell zurück ins Hier und Jetzt.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Sehen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Dinge, die Sie sehen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6038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18918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18918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318918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Fühlen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18918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Dinge, die Sie spüren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14877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97757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97757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997757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Hören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97757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Dinge, die Sie hören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93715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6595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76595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676595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Riechen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76595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Dinge, die Sie riechen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72554" y="1984248"/>
            <a:ext cx="1514246" cy="2633472"/>
          </a:xfrm>
          <a:prstGeom prst="roundRect">
            <a:avLst>
              <a:gd name="adj" fmla="val 48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5434" y="218541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55434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355434" y="2788920"/>
            <a:ext cx="11942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Schmecken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5434" y="3355848"/>
            <a:ext cx="119420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Ding, das Sie schmecken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STOP-Methode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Innehalten. Einen Moment unterbrechen, was Sie gerade tun.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 atmen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Einen bewussten, tiefen Atemzug nehmen.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Observieren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Beobachten: Was denke, fühle, spüre ich gerade?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Prüfen &amp; weiter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jetzt wichtig? Dann bewusst weitermachen.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Bewegte Pause am Arbeitsplatz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495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Schultern kreisen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Fünfmal nach hinten, fünfmal nach vorn – langsam und groß.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268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268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086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Nacken dehnen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646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Kopf sanft zur Seite neigen, 20 Sekunden halten, Seite wechseln.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72461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724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754173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Aufrichten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010205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Aufstehen, Arme nach oben strecken, auf die Zehenspitzen gehen.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18027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180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3997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Augen entspannen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55771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Handflächen warm reiben und auf die geschlossenen Augen legen.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359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635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04530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die Ferne schauen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301338"/>
            <a:ext cx="4846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dem Fenster in die Weite blicken – mindestens 20 Sekunden.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 um die 60 streckt sich am Schreibtisch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Hinweis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in Ihrem Tempo und ohne Schmerzen. Bewegungen dürfen klein sein.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Übung wann?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Werkzeugkasten für den Arbeitstag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785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Morgens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3-Minuten-Atemraum oder 4-6-Atmung vor dem ersten Blick ins Postfach.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77850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538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Gesprächen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Breathing – ruhig und konzentriert ins Gespräch.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77850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732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Akuter Ärger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STOP-Methode oder physiologischer Seufzer.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6100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Grübeln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5-4-3-2-1 – zurück ins Hier und Jetzt.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766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594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46100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538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langem Sitzen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594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Bewegte Pause und Blick in die Ferne.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960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788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46100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732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Abends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788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Body-Scan oder Progressive Muskelentspannung.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Entschleunigung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Pausen mit großer Wirkung.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09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Leere Holzbank unter einem alten Baum im Abendlicht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wir Pausen brauchen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Leistungsfähigkeit verläuft in Wellen – nicht als gerade Linie.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783080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7647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Leistungskurve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208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etwa 90 Minuten konzentrierter Arbeit sinkt die Aufmerksamkeit spürbar.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542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 pausieren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7980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Pausen wirken am besten, bevor wir erschöpft sind.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337560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319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Pausen zählen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5753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Kurzpausen erholen oft mehr als eine lange.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Mikropausen: 1 bis 5 Minuten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7850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Fensterblick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 in die Ferne und ins Grüne schauen.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66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94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77850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538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Wasser trinken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594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Glas Wasser – langsam und bewusst.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60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788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77850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32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Kurzer Gang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788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 über den Flur oder die Treppe nehmen.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61004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Atemzüge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 ausatmen, bevor die nächste Aufgabe beginnt.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766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594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461004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0538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Frische Luft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34594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Fenster öffnen oder kurz vor die Tür treten.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0960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788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461004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732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Kurzer Plausch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788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freundliches Wort mit Kolleg:innen – ohne Arbeitsthema.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Pausenkiller und Gegenmittel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Pausenkiller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Gegenmittel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08760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mache Pause, wenn ich fertig bin.“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508760"/>
            <a:ext cx="548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384048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488" y="150876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 fest im Kalender eintragen.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65760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286000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Mittagessen am Schreibtisch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286000"/>
            <a:ext cx="548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384048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228600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 den Arbeitsplatz verlassen.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5760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063240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Pause aufs Handy schauen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063240"/>
            <a:ext cx="548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47488" y="306324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ohne Bildschirm – Augen und Kopf erholen sich.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65760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840480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„Die anderen machen ja auch keine.“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840480"/>
            <a:ext cx="548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846320" y="3840480"/>
            <a:ext cx="3840480" cy="612648"/>
          </a:xfrm>
          <a:prstGeom prst="roundRect">
            <a:avLst>
              <a:gd name="adj" fmla="val 11940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47488" y="384048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 gemeinsam verabreden.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 Entschleunigung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7850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E-Mail-Zeiten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Postfach zu festen Zeiten prüfen, z. B. 3-mal täglich.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66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94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77850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538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Stumm schalten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594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Pop-ups und Töne für E-Mails abschalten.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6000" y="1481328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78880" y="166420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77850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3240" y="1664208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Fenster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78880" y="2258568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das Programm öffnen, an dem Sie gerade arbeiten.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61004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Fokuszeiten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Störungsfreie Zeitblöcke im Kalender eintragen.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766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594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461004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0538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weg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34594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Privates Handy außer Sichtweite legen.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096000" y="3163824"/>
            <a:ext cx="25908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78880" y="334670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461004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73240" y="3346704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Feierabend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78880" y="3941064"/>
            <a:ext cx="222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Dienst-E-Mails nach Dienstschluss.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 Pausenplan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Ist-Zustand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und wie mache ich derzeit Pausen? Seien Sie ehrlich.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Zeitfenster finden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Tragen Sie drei feste Pausen in Ihren typischen Arbeitstag ein.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Inhalte wählen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tun Sie in jeder Pause? Bewegung, Atem, frische Luft 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Erinnerung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erinnern Sie sich? Kalender, Wecker, feste Rituale.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 wie wichtige Termine behandeln – mit sich selbst.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Ein Feierabend-Ritual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bewusster Übergang hilft, die Arbeit im Büro zu lassen.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65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Rückblick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21992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habe ich heute geschafft? Drei Dinge notieren.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65476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65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471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Offenes parken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03220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wichtigsten Aufgaben für morgen aufschreiben.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3284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Aufräumen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84448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Schreibtisch ordnen, Computer herunterfahren.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7932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0279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096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Übergang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265676"/>
            <a:ext cx="48463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fester Abschluss: Tür schließen, tief durchatmen, der Weg nach Hause als Pause.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984248"/>
            <a:ext cx="2651760" cy="2542032"/>
          </a:xfrm>
          <a:prstGeom prst="roundRect">
            <a:avLst>
              <a:gd name="adj" fmla="val 2878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98424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159752" y="21671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2267712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172200" y="2642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291693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Jacke an der Bürotür, Abendlicht – Feierabend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Satz für den Abschluss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3886200"/>
            <a:ext cx="2240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„Für heute ist es genug. Morgen geht es weiter.“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Waldbaden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Shinrin-Yoku – mit allen Sinnen in die Atmosphäre des Waldes eintauchen.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Gruppe Erwachsener geht langsam auf einem Waldweg, von hinten fotografiert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Waldbaden?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Shinrin-Yoku: In den 1980er-Jahren in Japan geprägt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Eintauchen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Sport, keine Wanderung: langsam und absichtslos im Wald sein.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Sinne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 sehen, hören, riechen, tasten und spüren.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819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 sprechen, viel wahrnehmen – das Tempo drosseln.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der Wald auf uns wirkt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Studien zum Waldaufenthalt nahelegen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96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Körper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Hinweise auf niedrigeren Puls und Blutdruck sowie weniger Stresshormone.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66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0" y="18196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94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Stimmung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594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Menschen fühlen sich danach ruhiger, erholter und klarer.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96000" y="1481328"/>
            <a:ext cx="2590800" cy="2834640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8880" y="1682496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1819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8880" y="2377440"/>
            <a:ext cx="227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Aufmerksamkeit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78880" y="2944368"/>
            <a:ext cx="2270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 erholt die gerichtete Aufmerksamkeit (Attention Restoration Theory).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Hinweise für unsere Exkursion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Kleidung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Wetterfeste Kleidung und festes Schuhwerk.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66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38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594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Stumm schalten und in der Tasche lassen.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96000" y="123444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41732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3240" y="141732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Schweigen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201168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Zwischen den Stationen gehen wir schweigend.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37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Langsamer, als Sie es gewohnt sind.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766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3375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538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594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Wegen bleiben, abends nach Zecken schauen.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96000" y="304038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2232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3240" y="32232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Freiwilligkeit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78880" y="3817620"/>
            <a:ext cx="2225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Übung ist ein Angebot.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1: Ankommen im Wald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WALD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Schwelle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überschreiten bewusst eine „Schwelle“ und lassen den Alltag hinter uns.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Stehen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Füße hüftbreit, Augen schließen, den Boden unter den Füßen spüren.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Lauschen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hören Sie nah, was in der Ferne? Vögel, Wind, Blätter.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Riechen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 einatmen: Wie riecht der Wald heute?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Waldweg führt wie durch ein Tor in einen Buchenwald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nehme ich wahr, wenn ich nichts erreichen muss?“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2: Achtsames Gehen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WALD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Langsam gehen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Deutlich langsamer als gewohnt – Schritt für Schritt.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Füße spüren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Abrollen, Aufsetzen, Gewicht verlagern bewusst wahrnehmen.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bewegt sich?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Achten Sie auf alles, was sich im Wald bewegt.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Schweigen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gehen schweigend hintereinander.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Wanderschuhe auf weichem Waldboden mit Laub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„Der Weg ist das Ziel – ich komme nirgendwo an, ich bin schon da.“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3: Mein Sitzplatz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WALD · 25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Platz wählen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Suchen Sie sich in Sichtweite einen Platz, der Sie anspricht.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Einfach sitzen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 15 Minuten nur sitzen, schauen, lauschen, atmen.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tun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Handy, kein Ziel. Gedanken dürfen kommen und gehen.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Rückruf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Signal ruft die Gruppe zurück.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Sitzkissen auf Moos an einer kleinen Waldlichtung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sehe ich, wenn ich lange genug hinschaue?“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4: Begegnung mit einem Baum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WALD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Baum finden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Lassen Sie sich von einem Baum „einladen“.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Ertasten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Rinde, Moos, Wurzeln – mit den Händen und geschlossenen Augen.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Anlehnen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dem Rücken an den Stamm lehnen, gemeinsam atmen.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Naturgeschenk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Etwas Kleines mitnehmen, das Sie berührt hat: ein Blatt, ein Zapfen.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27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Hände berühren die Rinde eines alten Baumes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Baum steht fest, weil seine Wurzeln tief reichen. Was sind meine Wurzeln?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Abschlusskreis im Wald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90800" cy="313639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04288"/>
            <a:ext cx="2179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hat mich im Wald berührt?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481328"/>
            <a:ext cx="2590800" cy="313639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52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52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05200" y="2304288"/>
            <a:ext cx="2179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Wofür steht mein Naturgeschenk?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481328"/>
            <a:ext cx="2590800" cy="3136392"/>
          </a:xfrm>
          <a:prstGeom prst="roundRect">
            <a:avLst>
              <a:gd name="adj" fmla="val 282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46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24600" y="2304288"/>
            <a:ext cx="21793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möchte ich von dieser Ruhe mit in den Alltag nehmen?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in den Berufsalltag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Persönliche Strategien für mehr Ruhe und Klarheit.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Schreibtisch mit kleiner Pflanze und Notizbuch mit handgeschriebenem Plan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Rückblick: Unser Werkzeugkoffer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501902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Energiebilanz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Räuber und Spender kennen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7175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5463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501902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5463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Erlauber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75463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Innere Antreiber entschärfen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8630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6918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1501902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6918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Einflussbereich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 dort einsetzen, wo sie wirkt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00850" y="123444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83730" y="139903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501902"/>
            <a:ext cx="205740" cy="2057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83730" y="189280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ABC-Analyse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983730" y="220370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Bewertungen prüfen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304038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20497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307842"/>
            <a:ext cx="205740" cy="2057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" y="369874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Atemübungen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400964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Box, 4-6, Seufzer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571750" y="304038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54630" y="320497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3307842"/>
            <a:ext cx="205740" cy="2057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754630" y="369874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2754630" y="400964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Atemraum, Body-Scan, STOP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86300" y="304038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69180" y="320497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3307842"/>
            <a:ext cx="205740" cy="2057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69180" y="369874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</a:t>
            </a:r>
            <a:endParaRPr lang="en-US" sz="1250" dirty="0"/>
          </a:p>
        </p:txBody>
      </p:sp>
      <p:sp>
        <p:nvSpPr>
          <p:cNvPr id="37" name="Text 28"/>
          <p:cNvSpPr txBox="1"/>
          <p:nvPr/>
        </p:nvSpPr>
        <p:spPr>
          <a:xfrm>
            <a:off x="4869180" y="400964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Mikropausen und Rituale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800850" y="3040380"/>
            <a:ext cx="1885950" cy="1577340"/>
          </a:xfrm>
          <a:prstGeom prst="roundRect">
            <a:avLst>
              <a:gd name="adj" fmla="val 463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83730" y="3204972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3307842"/>
            <a:ext cx="205740" cy="2057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83730" y="3698748"/>
            <a:ext cx="1611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</a:t>
            </a:r>
            <a:endParaRPr lang="en-US" sz="1250" dirty="0"/>
          </a:p>
        </p:txBody>
      </p:sp>
      <p:sp>
        <p:nvSpPr>
          <p:cNvPr id="42" name="Text 32"/>
          <p:cNvSpPr txBox="1"/>
          <p:nvPr/>
        </p:nvSpPr>
        <p:spPr>
          <a:xfrm>
            <a:off x="6983730" y="4009644"/>
            <a:ext cx="1565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 ins Grüne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persönlichen Strategien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Auswählen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Wählen Sie drei Werkzeuge, die Sie wirklich ansprechen.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Konkretisieren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Wann, wo und wie oft wollen Sie sie anwenden?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Anker setzen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Woran koppeln Sie die Übung? Z. B. „Nach dem ersten Kaffee …“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Hindernisse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könnte Sie abhalten – und was tun Sie dann?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709928"/>
            <a:ext cx="502920" cy="50292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835658"/>
            <a:ext cx="251460" cy="2514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ist mehr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71576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Lieber eine kleine Übung täglich als zehn gute Vorsätze, die im Alltag untergehen.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Ziele erreichen mit WOOP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Gabriele Oettingen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04888" y="941832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04888" y="941832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wünsche ich mir für die nächsten vier Wochen? Konkret und erreichbar.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wäre das beste Ergebnis? Wie fühlt es sich an?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innere Hindernis könnte mich stoppen?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481328"/>
            <a:ext cx="1920240" cy="3136392"/>
          </a:xfrm>
          <a:prstGeom prst="roundRect">
            <a:avLst>
              <a:gd name="adj" fmla="val 3810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15727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3042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807208"/>
            <a:ext cx="1600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[Hindernis] auftritt, dann werde ich [Handlung].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Wenn-Dann-Pläne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2130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321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ALLTAGSTIPP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…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dann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365760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755648"/>
            <a:ext cx="333756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ich morgens den PC starte,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755648"/>
            <a:ext cx="548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46320" y="1755648"/>
            <a:ext cx="384048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47488" y="1755648"/>
            <a:ext cx="35204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atme ich dreimal tief durch.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56866"/>
            <a:ext cx="365760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356866"/>
            <a:ext cx="333756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ich mich über eine Mail ärgere,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356866"/>
            <a:ext cx="548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46320" y="2356866"/>
            <a:ext cx="384048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47488" y="2356866"/>
            <a:ext cx="35204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wende ich STOP an.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8084"/>
            <a:ext cx="365760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958084"/>
            <a:ext cx="333756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12:30 Uhr ist,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958084"/>
            <a:ext cx="548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846320" y="2958084"/>
            <a:ext cx="384048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7488" y="2958084"/>
            <a:ext cx="35204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verlasse ich meinen Platz.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59302"/>
            <a:ext cx="365760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559302"/>
            <a:ext cx="333756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ich Feierabend mache,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559302"/>
            <a:ext cx="548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846320" y="3559302"/>
            <a:ext cx="3840480" cy="436626"/>
          </a:xfrm>
          <a:prstGeom prst="roundRect">
            <a:avLst>
              <a:gd name="adj" fmla="val 16754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47488" y="3559302"/>
            <a:ext cx="35204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notiere ich drei gute Dinge.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Konkrete Wenn-Dann-Pläne erhöhen die Chance deutlich, dass Vorsätze umgesetzt werden (Peter Gollwitzer).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an mich selbst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· 15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Schreiben Sie sich einen Brief: Was möchte ich mir in sechs Wochen in Erinnerung rufen?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Erkenntnisse, Vorsätze, ermutigende Worte, Ihr Naturgeschenk.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Verschließen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Adressieren und verschließen Sie den Umschlag.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Überraschung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schicken Ihnen den Brief in etwa sechs Wochen zu.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Handgeschriebener Brief und Umschlag auf einem Holztisch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Warum?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Brief erinnert Sie, wenn der Alltag die guten Vorsätze verdrängt hat – in Ihren eigenen Worten.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Transfer-Tandem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189988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189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PARTNERÜBUNG · 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Tandem bilden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Finden Sie eine Person aus der Gruppe als Transfer-Partner:in.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40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Vorhaben teilen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96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Erzählen Sie einander Ihre drei Strategien und Ihren WOOP-Plan.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 vereinbaren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Vereinbaren Sie ein kurzes Telefonat in drei bis vier Wochen.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Nachfragen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klappt? Was nicht? Was brauche ich noch?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81328"/>
            <a:ext cx="2651760" cy="3044952"/>
          </a:xfrm>
          <a:prstGeom prst="roundRect">
            <a:avLst>
              <a:gd name="adj" fmla="val 2759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59752" y="1664208"/>
            <a:ext cx="402336" cy="402336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176479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1722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29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41401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Kolleg:innen 50+ gehen im Gespräch einen Weg entlang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dranbleiben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38328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sein Vorhaben mit anderen teilt, bleibt eher dabei. Das Tandem darf auch per Telefon stattfinden.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Wichtigste in Kürze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entsteht im Kopf mit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Bewertungen prüfen und Antreiber entschärfen.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938528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52828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38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Resilienz ist trainierbar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Gehirn lernt in jedem Alter.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119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596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Achtsamkeit schafft Raum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871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Zwischen Reiz und Reaktion liegt unsere Freiheit.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6956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255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Pausen sind Leistung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529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 Pausen, große Wirkung.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7932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3913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 heilt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097280" y="4187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Wald ist ein Kraftort vor der Haustür.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577840" y="128016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806440" y="150876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64592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0644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Fragen?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5806440" y="26060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noch unklar? Was möchten Sie noch loswerden?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Abschlussrunde &amp; Feedback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 · 20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sich mein Anliegen vom Anfang erfüllt?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86300" y="1481328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4900" y="1709928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49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09260" y="1664208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nehme ich mit in meinen Arbeitsalltag?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voll ist mein Energietank jetzt? (Energie-Barometer)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86300" y="3163824"/>
            <a:ext cx="4000500" cy="1453896"/>
          </a:xfrm>
          <a:prstGeom prst="roundRect">
            <a:avLst>
              <a:gd name="adj" fmla="val 5031"/>
            </a:avLst>
          </a:prstGeom>
          <a:solidFill>
            <a:srgbClr val="161616"/>
          </a:solidFill>
          <a:ln w="15875">
            <a:solidFill>
              <a:srgbClr val="E896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4900" y="3392424"/>
            <a:ext cx="411480" cy="41148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49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09260" y="3346704"/>
            <a:ext cx="29946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möchte ich der Gruppe noch sagen?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Bleiben Sie achtsam mit sich – und gönnen Sie sich regelmäßig Zeit im Grünen.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Kommen Sie gut nach Hause.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914400"/>
            <a:ext cx="2926080" cy="3657600"/>
          </a:xfrm>
          <a:prstGeom prst="rect">
            <a:avLst/>
          </a:prstGeom>
          <a:solidFill>
            <a:srgbClr val="161616"/>
          </a:solidFill>
          <a:ln w="15875">
            <a:solidFill>
              <a:srgbClr val="E8963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12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Blick nach oben in ein sonnendurchflutetes Blätterdach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8963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Mentale Stärke, Achtsamkeit und Entschleunigung im Arbeitsalltag</dc:title>
  <dc:subject>PptxGenJS Presentation</dc:subject>
  <dc:creator>Visual Academy</dc:creator>
  <cp:lastModifiedBy>Visual Academy</cp:lastModifiedBy>
  <cp:revision>1</cp:revision>
  <dcterms:created xsi:type="dcterms:W3CDTF">2026-09-27T10:43:12Z</dcterms:created>
  <dcterms:modified xsi:type="dcterms:W3CDTF">2026-09-27T10:43:12Z</dcterms:modified>
</cp:coreProperties>
</file>